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6280F-B120-4F60-A6D3-D300A8473B3C}" v="25" dt="2026-01-28T05:14:42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06D2-B975-156F-62F2-CA905E8FD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2DCD1-3EB2-0FE2-895E-17A25A23D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A972-898B-5391-29A0-763567E2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35D91-E496-CCC9-8414-72010924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EE366-CF75-8504-9D2A-2F48F92E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93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6D13-DF86-4E0C-73C6-B7C35E97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6286-695C-2B3B-4605-B0A87801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ADA6D-5819-5FF3-D177-A10E617A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A1EF4-5266-C572-855E-EFA01B10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0DDED-CB72-342E-4F81-DAFEE857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3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9B53-EE47-6ACF-D8AA-AC37A7E1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4CB52-71DB-E28A-D8ED-3817AE4AF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DF756-0122-10C5-98F6-779DADD8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33DF1-D697-94E4-C12B-5F7BB107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459A9-080C-6BA5-CB68-CEFE13A7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74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55FC-576B-4B4C-935E-3D4A421F1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232FB-80AF-1A9D-D7CE-13C662853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A6D8A-D164-02B9-A718-542B186EE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318C5-AC5B-A92E-3814-FF59E4AA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BF46B-84AD-A59C-C2BE-285626DC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42E21-C674-EF09-828A-8B85D5F6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8DC1-39F2-21BC-F21D-B12BD63F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6C5E2-F951-1737-09C2-80849EA4D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E9C49-5022-D8D6-212F-7E96C37BC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A0CDB-560D-45A2-AED3-EA3D36838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9844C-E212-343E-98CA-955F37CFA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573C8F-99DD-CC32-FA11-08E36390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66E22-A204-C705-20AD-0A773187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CE92A-2738-D2B0-F786-CC5724FF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8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6119-AA04-D7B7-A02D-6D15CAC9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4EF50-0F53-0DF4-CFCE-C7B8071C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9B868-040B-1A28-5751-F8E26DB6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89894-932C-36F2-023B-F29AAB78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80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7DE43-6C41-FD41-3EA9-083673A8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EC85-5E70-68A3-E65A-3F32F1DA1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98E48-5874-8E30-8530-83374269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82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8228-4BD0-9AFC-0AFB-2F0589A5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A0CA-9E94-EC2E-1B91-19B94206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51FD3-62DC-585F-D36F-B393AE2E2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51DB6-72AD-5284-6870-28FB14F1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DA8A1-DFCA-3568-764E-464482DF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498DB-634A-3D1B-DA50-6A212BB8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50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47D3-4601-4E25-9A50-42379663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11313-B35D-A6CB-222F-48B8F5AF1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C2D03-5C2D-6339-A63B-F8A2D3353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9D805-298B-3FC9-C340-410FCD8F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AE741-7A3C-F42E-9E60-C99177F3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AF166-21F0-B35B-16EA-4731D2B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1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53D4-111F-CD01-FC08-BEE20D62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B3562-0751-C243-1BED-180EA3E4B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0C1CF-0D52-7008-F530-54696821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AB0F-FFBD-5941-85E7-96A5528A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DE42-3948-E00A-33A2-30FF5CCE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3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FD700-16AF-6EB3-35A3-631EDB946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A010D-2FF5-24C7-F242-6E1BF13E4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6F43-C0F7-E518-3056-CD98D6CD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21B99-D2D4-1BD6-0579-909A997C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D82F-CDDE-955E-1C82-F845CC04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92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557D7-5688-3213-4722-3411CE7E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44878-7AAD-95BE-4615-E1809BDC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3BC4-C6AA-DB63-5FC3-FF6A75106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BD8C6-5EF5-4E0C-BA8D-72150715DA0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523DC-CFA1-FB26-665D-CBE27AD26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18CF-0BFE-FB73-E672-B74F4458F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4E8E2-DB41-4F6C-BD95-DD0FE7B9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3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7DBC-17B0-E121-06CF-A7A839965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577" y="211334"/>
            <a:ext cx="9144000" cy="188139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SWARNANDHRA COLLEGE OF ENGINEERING &amp; TECHNOLOGY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962EA-1E74-6AD3-A622-4C3B7B76E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377" y="2372802"/>
            <a:ext cx="9144000" cy="165576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(AUTONOMOUS) </a:t>
            </a:r>
            <a:r>
              <a:rPr lang="en-IN" dirty="0"/>
              <a:t>NARSPUR</a:t>
            </a:r>
          </a:p>
          <a:p>
            <a:r>
              <a:rPr lang="en-US" dirty="0">
                <a:latin typeface="Arial"/>
              </a:rPr>
              <a:t>COMPUTER SCIENCE AND ENGINEERING DEPARTMENT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FCB9E-9F32-1656-E7B2-385CE3DDFE7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14"/>
            <a:ext cx="2163377" cy="2254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11025F-EE9D-14FB-3E23-1895E239EEFB}"/>
              </a:ext>
            </a:extLst>
          </p:cNvPr>
          <p:cNvSpPr txBox="1"/>
          <p:nvPr/>
        </p:nvSpPr>
        <p:spPr>
          <a:xfrm>
            <a:off x="698370" y="4308639"/>
            <a:ext cx="43357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A.GREESHMA(22A21A0501)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CH.CHANDU(23A25A0502)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HARI(22A21A0557)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96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7A0F-83B9-D80E-5557-53008A9D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87" y="2243086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HALLUCINATION-RESISTANT , DOCUMENT-CENTRIC CONVERSATIONAL FRAMEWORK USING FUSION RETRIEVAL AUGMENTED GENERATION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0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B88E22-7FA9-C290-4155-74E42D00D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46" y="447520"/>
            <a:ext cx="9144000" cy="772335"/>
          </a:xfrm>
        </p:spPr>
        <p:txBody>
          <a:bodyPr>
            <a:normAutofit/>
          </a:bodyPr>
          <a:lstStyle/>
          <a:p>
            <a:pPr algn="l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3A448-CF84-A426-9108-7F7D8A5F3CF9}"/>
              </a:ext>
            </a:extLst>
          </p:cNvPr>
          <p:cNvSpPr txBox="1"/>
          <p:nvPr/>
        </p:nvSpPr>
        <p:spPr>
          <a:xfrm>
            <a:off x="1081546" y="1571029"/>
            <a:ext cx="9429136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FusionRAG-DocChat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document-centric conversational framework that reduces hallucinations in Large Language Models. It uses Fusion Retrieval-Augmented Generation to retrieve relevant document information before generating responses. This approach improves the accuracy and reliability of document-based question answering.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4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420C-CF29-ECA6-08A4-E3A2E8E3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48" y="414286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21488-4992-6772-2A8C-3DB4B4A8BF55}"/>
              </a:ext>
            </a:extLst>
          </p:cNvPr>
          <p:cNvSpPr txBox="1"/>
          <p:nvPr/>
        </p:nvSpPr>
        <p:spPr>
          <a:xfrm>
            <a:off x="983226" y="1874728"/>
            <a:ext cx="9851923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are widely used in conversational AI applications.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limitation of these models is hallucination, especially in document-based question answering.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trustworthy AI systems, document-centric conversational approaches are required.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57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E735-ABD9-5056-01B6-607198A2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45" y="522442"/>
            <a:ext cx="11245644" cy="164065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information Is NOT Present in the Document / Database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Scenario : Assume your system has only these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documents:Company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annual report (22-23)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policy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documentsFinancial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summary till 2023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6BF5-AF1D-22CC-2625-BEA2F6ADC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4845" y="2711808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Fusion RAG (Normal LLM)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question:“What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company’s profit in 2024?”LLM response (problem):“The company made a profit of ₹120 crores in 2024.”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hallucination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A62B4-7C36-8385-097E-8012D9F06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3309" y="2711808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Fusion RAG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question:“What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company’s profit in 2024?”System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response:“The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requested information is not available in the provided documents. The documents contain data only up to 2023.”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31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F3D61F-3557-C386-4317-94FAC2C77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08530"/>
              </p:ext>
            </p:extLst>
          </p:nvPr>
        </p:nvGraphicFramePr>
        <p:xfrm>
          <a:off x="1030746" y="1221112"/>
          <a:ext cx="9756880" cy="546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220">
                  <a:extLst>
                    <a:ext uri="{9D8B030D-6E8A-4147-A177-3AD203B41FA5}">
                      <a16:colId xmlns:a16="http://schemas.microsoft.com/office/drawing/2014/main" val="2405474627"/>
                    </a:ext>
                  </a:extLst>
                </a:gridCol>
                <a:gridCol w="2439220">
                  <a:extLst>
                    <a:ext uri="{9D8B030D-6E8A-4147-A177-3AD203B41FA5}">
                      <a16:colId xmlns:a16="http://schemas.microsoft.com/office/drawing/2014/main" val="2575615820"/>
                    </a:ext>
                  </a:extLst>
                </a:gridCol>
                <a:gridCol w="2439220">
                  <a:extLst>
                    <a:ext uri="{9D8B030D-6E8A-4147-A177-3AD203B41FA5}">
                      <a16:colId xmlns:a16="http://schemas.microsoft.com/office/drawing/2014/main" val="2190251886"/>
                    </a:ext>
                  </a:extLst>
                </a:gridCol>
                <a:gridCol w="2439220">
                  <a:extLst>
                    <a:ext uri="{9D8B030D-6E8A-4147-A177-3AD203B41FA5}">
                      <a16:colId xmlns:a16="http://schemas.microsoft.com/office/drawing/2014/main" val="2987966887"/>
                    </a:ext>
                  </a:extLst>
                </a:gridCol>
              </a:tblGrid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&amp; 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FINDINGS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412261"/>
                  </a:ext>
                </a:extLst>
              </a:tr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Early Systems (Pre-2015)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Rule-Based 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and predictable conversational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scalable, lacks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157544"/>
                  </a:ext>
                </a:extLst>
              </a:tr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Brown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LLM-Based Conversational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Human-like and flexible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Hallucination, unreliable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387867"/>
                  </a:ext>
                </a:extLst>
              </a:tr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Lewis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Retrieval-Augmented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Improved context awareness using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retriever, limited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90310"/>
                  </a:ext>
                </a:extLst>
              </a:tr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Document-Centric Question Answering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reliable and factual answers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depends on retrieval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739121"/>
                  </a:ext>
                </a:extLst>
              </a:tr>
              <a:tr h="91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Fusion RAG–Based DocChat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Higher accuracy with reduced hallucination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System evaluation in progress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78292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57F5991-5209-3A7D-B5FD-49266FDDB9C6}"/>
              </a:ext>
            </a:extLst>
          </p:cNvPr>
          <p:cNvSpPr/>
          <p:nvPr/>
        </p:nvSpPr>
        <p:spPr>
          <a:xfrm>
            <a:off x="934064" y="167148"/>
            <a:ext cx="9468465" cy="875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50000"/>
              </a:lnSpc>
            </a:pPr>
            <a:r>
              <a:rPr lang="en-US" sz="4400" u="sng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  <a:endParaRPr lang="en-IN" sz="4400" u="sng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ctr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2053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D3B7-6839-B893-284D-2C0BD503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6" y="384790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7A5CE-24E8-0B85-09A2-55EEB25D1B7E}"/>
              </a:ext>
            </a:extLst>
          </p:cNvPr>
          <p:cNvSpPr txBox="1"/>
          <p:nvPr/>
        </p:nvSpPr>
        <p:spPr>
          <a:xfrm>
            <a:off x="1002890" y="2113936"/>
            <a:ext cx="9969909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conversational systems mainly rely on Large Language Models or basic chatbots.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often generate responses without strict grounding to document content.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they suffer from hallucination and reduced reliability in document-based applications.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523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A3A1-7C03-068F-7D7D-5361259F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219" y="365125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7E323-ED78-9E04-3BEF-91EFC1DC875B}"/>
              </a:ext>
            </a:extLst>
          </p:cNvPr>
          <p:cNvSpPr txBox="1"/>
          <p:nvPr/>
        </p:nvSpPr>
        <p:spPr>
          <a:xfrm>
            <a:off x="1042219" y="2305615"/>
            <a:ext cx="9124335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Document-centric conversational chatbot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Fusion RAG for document retrieval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responses grounded in documents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hallucination and improves accuracy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52E771-6917-B931-9088-F20A0FC197B9}"/>
              </a:ext>
            </a:extLst>
          </p:cNvPr>
          <p:cNvSpPr txBox="1"/>
          <p:nvPr/>
        </p:nvSpPr>
        <p:spPr>
          <a:xfrm>
            <a:off x="2969343" y="93407"/>
            <a:ext cx="7020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73392A-ACBB-60DD-B1DC-2697EEEB3940}"/>
              </a:ext>
            </a:extLst>
          </p:cNvPr>
          <p:cNvSpPr/>
          <p:nvPr/>
        </p:nvSpPr>
        <p:spPr>
          <a:xfrm>
            <a:off x="250722" y="1042219"/>
            <a:ext cx="11690555" cy="572237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D0CB-162D-0C62-528F-79D19E5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74" y="394622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699C3-3FAC-2554-BD04-F2F5E09090E5}"/>
              </a:ext>
            </a:extLst>
          </p:cNvPr>
          <p:cNvSpPr txBox="1"/>
          <p:nvPr/>
        </p:nvSpPr>
        <p:spPr>
          <a:xfrm>
            <a:off x="993059" y="2104103"/>
            <a:ext cx="9507794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document-centric conversational framework to address hallucination in AI systems. Fusion Retrieval-Augmented Generation is used to ground responses strictly in document content. Review-1 focused on conceptual understanding, with implementation planned for the next phase.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979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24FF2-492D-5721-2025-3FEA1863A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35" y="530942"/>
            <a:ext cx="7334865" cy="579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4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445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SWARNANDHRA COLLEGE OF ENGINEERING &amp; TECHNOLOGY</vt:lpstr>
      <vt:lpstr>HALLUCINATION-RESISTANT , DOCUMENT-CENTRIC CONVERSATIONAL FRAMEWORK USING FUSION RETRIEVAL AUGMENTED GENERATION</vt:lpstr>
      <vt:lpstr>PowerPoint Presentation</vt:lpstr>
      <vt:lpstr>INTRODUCTION</vt:lpstr>
      <vt:lpstr>Example: If information Is NOT Present in the Document / Database  Scenario : Assume your system has only these documents:Company annual report (22-23) Internal policy documentsFinancial summary till 2023</vt:lpstr>
      <vt:lpstr>PowerPoint Presentation</vt:lpstr>
      <vt:lpstr>EXISTING SYSTEM</vt:lpstr>
      <vt:lpstr>PROPOSED SYSTEM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Greeshma Adabala</dc:creator>
  <cp:lastModifiedBy>chandu chandanapalli</cp:lastModifiedBy>
  <cp:revision>9</cp:revision>
  <dcterms:created xsi:type="dcterms:W3CDTF">2026-01-28T04:28:11Z</dcterms:created>
  <dcterms:modified xsi:type="dcterms:W3CDTF">2026-01-28T07:01:17Z</dcterms:modified>
</cp:coreProperties>
</file>